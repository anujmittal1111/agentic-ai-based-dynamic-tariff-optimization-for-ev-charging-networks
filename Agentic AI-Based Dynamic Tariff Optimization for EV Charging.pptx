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934" y="6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0C445-AAEE-6616-A826-4C2540551B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56D2B0-BBC7-6A5C-9F10-8D24F8CB8E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C361BD-45C9-C118-5C98-86370CA76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72C9B-5771-4D11-BB62-8446F9C053C7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A96096-DB94-0418-AFD8-482004E57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2AD690-D742-8447-FF22-7C3BC675B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873B3-5FA0-46A2-8DFF-71CE250E2E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33617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E4706-0D49-C592-FFF6-CF8C38DA6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D3957B-919C-F953-EF41-F491DDE228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462CAA-51DB-B375-EBC3-2E53F94EF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72C9B-5771-4D11-BB62-8446F9C053C7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384E16-7CAC-E1B9-AF56-E51315196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4081FB-7722-74B3-13AD-5AC37FB49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873B3-5FA0-46A2-8DFF-71CE250E2E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5352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1588F-B4B8-938E-2E26-C49F4643D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10C671-E732-E8AE-18BA-4918953CB4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A67EE3-2E76-FF60-F93F-2B684123B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72C9B-5771-4D11-BB62-8446F9C053C7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95F11D-4C7D-8A66-850E-08FD406ED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ECFD2D-2E64-8D70-FAA3-A1A97CDEA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873B3-5FA0-46A2-8DFF-71CE250E2E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4546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DB9E9-0E3B-A68A-9AD9-361F8D61F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84A06-1C84-69D9-49A2-FFE5C7D648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8FF0F2-2CD2-60DC-BE11-85F229DC8D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81E86F-2E75-86A6-91EB-8201FDC79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72C9B-5771-4D11-BB62-8446F9C053C7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163701-EA5C-493F-9256-4221EB836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1C6EFA-D703-35A4-C22F-0B2B2B11A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873B3-5FA0-46A2-8DFF-71CE250E2E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1625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23990-FC58-823B-1FBF-7D74072AA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2D1DB7-7D98-7F64-A1AC-F112440CBE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C7216B-2310-985E-DA84-CD46DB5F74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827900-EAF9-2C10-4228-DDE8A5416A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CD7BBE-0599-CFFC-740A-2A29816F77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3216C3-5F34-EF50-D6D5-2B17CC091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72C9B-5771-4D11-BB62-8446F9C053C7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905933-DFAF-648B-141B-0F595858B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81AD87-271D-089D-7AF5-71C408C48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873B3-5FA0-46A2-8DFF-71CE250E2E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1539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CA687-E49B-B6F1-7CB7-53C9FBAF3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D0A818-0522-F1A4-1562-145D72291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72C9B-5771-4D11-BB62-8446F9C053C7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0E3D58-9E83-E5DF-B7C1-57F9133CA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EFE04F-4B57-038C-7E60-3E2F9A89B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873B3-5FA0-46A2-8DFF-71CE250E2E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2333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571853D-E9AC-D631-F23A-67F92C8E2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72C9B-5771-4D11-BB62-8446F9C053C7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323640-1133-65CE-966E-73FE81959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D375CB-EE2B-893D-2CB2-6D93D495A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873B3-5FA0-46A2-8DFF-71CE250E2E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54860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4115C-795D-6E46-29B4-8ACE544EC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8B5B61-3CAF-A6B7-6BAC-5A8AEC2C37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296A24-A2F7-082B-5785-32285FFD72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1D86DC-AD0D-E4E8-A2E3-D14CB9C0CA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72C9B-5771-4D11-BB62-8446F9C053C7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2D3DBC-B621-C6A9-E4CF-BE04FA15B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0EEB7F-B1EA-2926-C67D-B14C652AB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873B3-5FA0-46A2-8DFF-71CE250E2E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4735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CF861-8835-5833-64A4-143907B52C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40B4FF-F1A7-984D-2564-615E1F55C3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1A6348-707F-3E66-F93A-7CF7E0C427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3C9662-C06D-3F47-C6E0-4A7586EBE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72C9B-5771-4D11-BB62-8446F9C053C7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880756-40DF-57C1-453D-B85112587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A1DFBD-8762-7100-A862-EA536E2DD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873B3-5FA0-46A2-8DFF-71CE250E2E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1730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57EC4-0C03-4AFA-BB01-71AD69A17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29FA6D-A4D4-FD6B-0CE5-9E8E397A6F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B2432F-E229-10F5-3CE3-19CBC003A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72C9B-5771-4D11-BB62-8446F9C053C7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BD651-0452-F019-A683-4208278A1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28C9AF-C986-2491-3891-F35475102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873B3-5FA0-46A2-8DFF-71CE250E2E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5291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04D0E0-F601-0C44-E8D8-8045777660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2EFA73-60E0-0BB2-4EA9-274311487C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D2CBF5-F0A4-C8CE-4115-C7F1D2E55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72C9B-5771-4D11-BB62-8446F9C053C7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E5F913-5C35-2C1E-4596-A6CBBB2D2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72151E-2047-D356-CAE0-D1CA17F16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873B3-5FA0-46A2-8DFF-71CE250E2E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2925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B7A18B-72A6-05AE-4003-2413EC073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7BFCB7-6A1F-A6CA-FAF6-5BCE3C21AB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D47CD4-D2DD-ECA3-1527-C2560F1EF3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372C9B-5771-4D11-BB62-8446F9C053C7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EFCF2D-C6ED-C6A7-5053-5E3F26D04D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B5AE1B-0375-9906-8D8D-20302F4775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5873B3-5FA0-46A2-8DFF-71CE250E2E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4881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BB0514-18C5-104B-D9B4-72656D2D6BF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1744"/>
          <a:stretch>
            <a:fillRect/>
          </a:stretch>
        </p:blipFill>
        <p:spPr>
          <a:xfrm>
            <a:off x="3523475" y="0"/>
            <a:ext cx="8668525" cy="685800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1AF7BB-2103-E2CE-5B4D-51C9C6ED86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pPr algn="l"/>
            <a:r>
              <a:rPr lang="en-US" sz="3000" b="1">
                <a:solidFill>
                  <a:schemeClr val="bg1"/>
                </a:solidFill>
              </a:rPr>
              <a:t>Agentic AI-Based Dynamic Tariff Optimization for EV Charging Networks Using Large-Scale Charging Session Data. </a:t>
            </a:r>
            <a:endParaRPr lang="en-IN" sz="3000" b="1">
              <a:solidFill>
                <a:schemeClr val="bg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02F6F2E-6C25-73C4-0E8B-0B8288CB94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9489" y="0"/>
            <a:ext cx="802508" cy="80250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1D6C348-C126-DAD9-45E8-A58785FF7FD2}"/>
              </a:ext>
            </a:extLst>
          </p:cNvPr>
          <p:cNvSpPr txBox="1"/>
          <p:nvPr/>
        </p:nvSpPr>
        <p:spPr>
          <a:xfrm>
            <a:off x="549429" y="5448860"/>
            <a:ext cx="23033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Anuj Mittal</a:t>
            </a:r>
          </a:p>
          <a:p>
            <a:r>
              <a:rPr lang="en-US" b="1" dirty="0">
                <a:solidFill>
                  <a:schemeClr val="bg1"/>
                </a:solidFill>
              </a:rPr>
              <a:t>23117025</a:t>
            </a:r>
            <a:endParaRPr lang="en-IN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72610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FB11A68-0639-2042-2731-7E1D40B685BD}"/>
              </a:ext>
            </a:extLst>
          </p:cNvPr>
          <p:cNvSpPr txBox="1"/>
          <p:nvPr/>
        </p:nvSpPr>
        <p:spPr>
          <a:xfrm>
            <a:off x="162046" y="162046"/>
            <a:ext cx="79170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6">
                    <a:lumMod val="50000"/>
                  </a:schemeClr>
                </a:solidFill>
              </a:rPr>
              <a:t>DATA LANDSCAPE &amp; PREPROCESSING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3D748D-9D8D-5CE7-8901-A1A59F6B7B6E}"/>
              </a:ext>
            </a:extLst>
          </p:cNvPr>
          <p:cNvSpPr txBox="1"/>
          <p:nvPr/>
        </p:nvSpPr>
        <p:spPr>
          <a:xfrm>
            <a:off x="162046" y="902826"/>
            <a:ext cx="11563109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>
                    <a:lumMod val="50000"/>
                  </a:schemeClr>
                </a:solidFill>
              </a:rPr>
              <a:t>Data Sources</a:t>
            </a:r>
          </a:p>
          <a:p>
            <a:r>
              <a:rPr lang="en-IN" b="1" dirty="0" err="1">
                <a:solidFill>
                  <a:schemeClr val="accent6">
                    <a:lumMod val="50000"/>
                  </a:schemeClr>
                </a:solidFill>
              </a:rPr>
              <a:t>UrbanEV</a:t>
            </a:r>
            <a:r>
              <a:rPr lang="en-IN" b="1" dirty="0">
                <a:solidFill>
                  <a:schemeClr val="accent6">
                    <a:lumMod val="50000"/>
                  </a:schemeClr>
                </a:solidFill>
              </a:rPr>
              <a:t> Dataset </a:t>
            </a:r>
          </a:p>
          <a:p>
            <a:r>
              <a:rPr lang="en-IN" dirty="0"/>
              <a:t>Large-scale EV charging station operational dataset collected from charging infrastructure in China. </a:t>
            </a:r>
          </a:p>
          <a:p>
            <a:r>
              <a:rPr lang="en-IN" dirty="0"/>
              <a:t>Contains station-level occupancy, charging volume, session duration, and pricing information. </a:t>
            </a:r>
          </a:p>
          <a:p>
            <a:r>
              <a:rPr lang="en-IN" dirty="0"/>
              <a:t>Recorded at 5-minute intervals across multiple charging stations. </a:t>
            </a:r>
          </a:p>
          <a:p>
            <a:r>
              <a:rPr lang="en-IN" dirty="0"/>
              <a:t>Used as the primary dataset for demand forecasting, tariff optimization, and monitoring. </a:t>
            </a:r>
          </a:p>
          <a:p>
            <a:r>
              <a:rPr lang="en-IN" b="1" dirty="0">
                <a:solidFill>
                  <a:schemeClr val="accent6">
                    <a:lumMod val="50000"/>
                  </a:schemeClr>
                </a:solidFill>
              </a:rPr>
              <a:t>ACN Dataset</a:t>
            </a:r>
          </a:p>
          <a:p>
            <a:r>
              <a:rPr lang="en-IN" dirty="0"/>
              <a:t>Public EV charging session dataset collected from charging networks in the United States. </a:t>
            </a:r>
          </a:p>
          <a:p>
            <a:r>
              <a:rPr lang="en-IN" dirty="0"/>
              <a:t>Contains connection, charging completion, and disconnection timestamps along with energy delivered. </a:t>
            </a:r>
          </a:p>
          <a:p>
            <a:r>
              <a:rPr lang="en-IN" dirty="0"/>
              <a:t>Used to </a:t>
            </a:r>
            <a:r>
              <a:rPr lang="en-IN" dirty="0" err="1"/>
              <a:t>analyze</a:t>
            </a:r>
            <a:r>
              <a:rPr lang="en-IN" dirty="0"/>
              <a:t> user charging </a:t>
            </a:r>
            <a:r>
              <a:rPr lang="en-IN" dirty="0" err="1"/>
              <a:t>behavior</a:t>
            </a:r>
            <a:r>
              <a:rPr lang="en-IN" dirty="0"/>
              <a:t>, charger utilization efficiency, and idle occupancy patterns.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61BCDC-37A2-1A3F-14E4-8CB4DF3607DA}"/>
              </a:ext>
            </a:extLst>
          </p:cNvPr>
          <p:cNvSpPr txBox="1"/>
          <p:nvPr/>
        </p:nvSpPr>
        <p:spPr>
          <a:xfrm>
            <a:off x="162045" y="4079853"/>
            <a:ext cx="11563109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>
                    <a:lumMod val="50000"/>
                  </a:schemeClr>
                </a:solidFill>
              </a:rPr>
              <a:t>Data Preprocessing</a:t>
            </a:r>
          </a:p>
          <a:p>
            <a:r>
              <a:rPr lang="en-IN" b="1" dirty="0" err="1">
                <a:solidFill>
                  <a:schemeClr val="accent6">
                    <a:lumMod val="50000"/>
                  </a:schemeClr>
                </a:solidFill>
              </a:rPr>
              <a:t>UrbanEV</a:t>
            </a:r>
            <a:endParaRPr lang="en-IN" b="1" dirty="0">
              <a:solidFill>
                <a:schemeClr val="accent6">
                  <a:lumMod val="50000"/>
                </a:schemeClr>
              </a:solidFill>
            </a:endParaRPr>
          </a:p>
          <a:p>
            <a:r>
              <a:rPr lang="en-IN" dirty="0"/>
              <a:t>Converted wide-format station matrices into long-format observations. </a:t>
            </a:r>
          </a:p>
          <a:p>
            <a:r>
              <a:rPr lang="en-IN" dirty="0"/>
              <a:t>Merged occupancy, volume, duration, and pricing datasets using Timestamp and Station ID. </a:t>
            </a:r>
          </a:p>
          <a:p>
            <a:r>
              <a:rPr lang="en-IN" dirty="0"/>
              <a:t>Created a unified analytical dataset for modelling and optimization. </a:t>
            </a:r>
          </a:p>
          <a:p>
            <a:r>
              <a:rPr lang="en-IN" b="1" dirty="0">
                <a:solidFill>
                  <a:schemeClr val="accent6">
                    <a:lumMod val="50000"/>
                  </a:schemeClr>
                </a:solidFill>
              </a:rPr>
              <a:t>ACN</a:t>
            </a:r>
          </a:p>
          <a:p>
            <a:r>
              <a:rPr lang="en-IN" dirty="0"/>
              <a:t>Removed incomplete charging sessions containing missing operational timestamps. </a:t>
            </a:r>
          </a:p>
          <a:p>
            <a:r>
              <a:rPr lang="en-IN" dirty="0"/>
              <a:t>Retained only critical session-level variables required for </a:t>
            </a:r>
            <a:r>
              <a:rPr lang="en-IN" dirty="0" err="1"/>
              <a:t>behavioral</a:t>
            </a:r>
            <a:r>
              <a:rPr lang="en-IN" dirty="0"/>
              <a:t> analysis.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038530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FF75F9-5FEC-C92B-5F72-F1D61A657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887ED49-74B9-5606-F380-A478994BAD1D}"/>
              </a:ext>
            </a:extLst>
          </p:cNvPr>
          <p:cNvSpPr txBox="1"/>
          <p:nvPr/>
        </p:nvSpPr>
        <p:spPr>
          <a:xfrm>
            <a:off x="162046" y="162046"/>
            <a:ext cx="79170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6">
                    <a:lumMod val="50000"/>
                  </a:schemeClr>
                </a:solidFill>
              </a:rPr>
              <a:t>EDA &amp; DEMAND BEHAVIOR INSIGHTS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30545D0-7B74-CBC9-1A54-9385E5BD2F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046" y="685267"/>
            <a:ext cx="4039564" cy="205050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B26ACF3-F56F-8096-220C-28DECDEF14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3869" y="685266"/>
            <a:ext cx="3716553" cy="210095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220F721-A4D3-4B05-BF69-79F7702CB1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939" y="2735773"/>
            <a:ext cx="3883671" cy="250273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F612EC5-7C51-40A7-D2D5-0B69F17A2B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2389" y="2786225"/>
            <a:ext cx="3858033" cy="250273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B67E85F-C0D5-48CB-ED6F-AB23BC8A968F}"/>
              </a:ext>
            </a:extLst>
          </p:cNvPr>
          <p:cNvSpPr txBox="1"/>
          <p:nvPr/>
        </p:nvSpPr>
        <p:spPr>
          <a:xfrm>
            <a:off x="8852598" y="616984"/>
            <a:ext cx="3021463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accent6">
                    <a:lumMod val="50000"/>
                  </a:schemeClr>
                </a:solidFill>
              </a:rPr>
              <a:t>Key Findings</a:t>
            </a:r>
          </a:p>
          <a:p>
            <a:r>
              <a:rPr lang="en-IN" sz="1600" b="1" dirty="0">
                <a:solidFill>
                  <a:schemeClr val="accent6">
                    <a:lumMod val="50000"/>
                  </a:schemeClr>
                </a:solidFill>
              </a:rPr>
              <a:t>Long-Term Demand Trend</a:t>
            </a:r>
          </a:p>
          <a:p>
            <a:r>
              <a:rPr lang="en-IN" sz="1600" dirty="0"/>
              <a:t>Charging demand increased over the month </a:t>
            </a:r>
          </a:p>
          <a:p>
            <a:r>
              <a:rPr lang="en-IN" sz="1600" dirty="0"/>
              <a:t>Demand dip observed around Day 15–16 </a:t>
            </a:r>
          </a:p>
          <a:p>
            <a:r>
              <a:rPr lang="en-IN" sz="1600" dirty="0"/>
              <a:t>Indicates evolving network utilization </a:t>
            </a:r>
          </a:p>
          <a:p>
            <a:r>
              <a:rPr lang="en-IN" sz="1600" b="1" dirty="0">
                <a:solidFill>
                  <a:schemeClr val="accent6">
                    <a:lumMod val="50000"/>
                  </a:schemeClr>
                </a:solidFill>
              </a:rPr>
              <a:t>Intraday Charging </a:t>
            </a:r>
            <a:r>
              <a:rPr lang="en-IN" sz="1600" b="1" dirty="0" err="1">
                <a:solidFill>
                  <a:schemeClr val="accent6">
                    <a:lumMod val="50000"/>
                  </a:schemeClr>
                </a:solidFill>
              </a:rPr>
              <a:t>Behavior</a:t>
            </a:r>
            <a:endParaRPr lang="en-IN" sz="1600" b="1" dirty="0">
              <a:solidFill>
                <a:schemeClr val="accent6">
                  <a:lumMod val="50000"/>
                </a:schemeClr>
              </a:solidFill>
            </a:endParaRPr>
          </a:p>
          <a:p>
            <a:r>
              <a:rPr lang="en-IN" sz="1600" dirty="0"/>
              <a:t>Highest occupancy observed during late-night and early-morning hours </a:t>
            </a:r>
          </a:p>
          <a:p>
            <a:r>
              <a:rPr lang="en-IN" sz="1600" dirty="0"/>
              <a:t>Lowest occupancy during midday </a:t>
            </a:r>
          </a:p>
          <a:p>
            <a:r>
              <a:rPr lang="en-IN" sz="1600" b="1" dirty="0">
                <a:solidFill>
                  <a:schemeClr val="accent6">
                    <a:lumMod val="50000"/>
                  </a:schemeClr>
                </a:solidFill>
              </a:rPr>
              <a:t>Congestion Characteristics</a:t>
            </a:r>
          </a:p>
          <a:p>
            <a:r>
              <a:rPr lang="en-IN" sz="1600" dirty="0"/>
              <a:t>Significant variation across charging stations </a:t>
            </a:r>
          </a:p>
          <a:p>
            <a:r>
              <a:rPr lang="en-IN" sz="1600" dirty="0"/>
              <a:t>Some stations consistently experience high utilization </a:t>
            </a:r>
          </a:p>
          <a:p>
            <a:r>
              <a:rPr lang="en-IN" sz="1600" b="1" dirty="0">
                <a:solidFill>
                  <a:schemeClr val="accent6">
                    <a:lumMod val="50000"/>
                  </a:schemeClr>
                </a:solidFill>
              </a:rPr>
              <a:t>Volatility Analysis</a:t>
            </a:r>
          </a:p>
          <a:p>
            <a:r>
              <a:rPr lang="en-IN" sz="1600" dirty="0"/>
              <a:t>Occupancy variability highest during high-demand periods </a:t>
            </a:r>
          </a:p>
          <a:p>
            <a:r>
              <a:rPr lang="en-IN" sz="1600" dirty="0"/>
              <a:t>Stable utilization observed during midday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A8E40A8-FA65-D6CD-0384-C6DF8F8C6226}"/>
              </a:ext>
            </a:extLst>
          </p:cNvPr>
          <p:cNvSpPr txBox="1"/>
          <p:nvPr/>
        </p:nvSpPr>
        <p:spPr>
          <a:xfrm>
            <a:off x="422787" y="5496232"/>
            <a:ext cx="79776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6">
                    <a:lumMod val="50000"/>
                  </a:schemeClr>
                </a:solidFill>
              </a:rPr>
              <a:t>Contrary to conventional assumptions, the network's peak utilization occurred during overnight hours. Therefore, peak periods were identified directly from data rather than predefined using human assumptions.</a:t>
            </a:r>
          </a:p>
        </p:txBody>
      </p:sp>
    </p:spTree>
    <p:extLst>
      <p:ext uri="{BB962C8B-B14F-4D97-AF65-F5344CB8AC3E}">
        <p14:creationId xmlns:p14="http://schemas.microsoft.com/office/powerpoint/2010/main" val="26993726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A196FA-915B-2708-98B7-994805BAB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1F955D8-4EA7-FDBE-7FE9-7457AA03FD37}"/>
              </a:ext>
            </a:extLst>
          </p:cNvPr>
          <p:cNvSpPr txBox="1"/>
          <p:nvPr/>
        </p:nvSpPr>
        <p:spPr>
          <a:xfrm>
            <a:off x="162046" y="162046"/>
            <a:ext cx="79170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6">
                    <a:lumMod val="50000"/>
                  </a:schemeClr>
                </a:solidFill>
              </a:rPr>
              <a:t>DEMAND PREDICTION AGENT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8ADBCD-8D00-741A-A2A5-4314EF7E92E0}"/>
              </a:ext>
            </a:extLst>
          </p:cNvPr>
          <p:cNvSpPr txBox="1"/>
          <p:nvPr/>
        </p:nvSpPr>
        <p:spPr>
          <a:xfrm>
            <a:off x="162046" y="902826"/>
            <a:ext cx="11563109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Predict future charging demand and station occupancy using historical operational features.</a:t>
            </a:r>
          </a:p>
          <a:p>
            <a:r>
              <a:rPr lang="en-IN" sz="2000" b="1" dirty="0">
                <a:solidFill>
                  <a:schemeClr val="accent6">
                    <a:lumMod val="50000"/>
                  </a:schemeClr>
                </a:solidFill>
              </a:rPr>
              <a:t>Features Used </a:t>
            </a:r>
            <a:r>
              <a:rPr lang="en-IN" sz="2000" b="1" dirty="0"/>
              <a:t>: </a:t>
            </a:r>
            <a:r>
              <a:rPr lang="en-IN" sz="2000" dirty="0"/>
              <a:t>Volume, Duration, Price, Charger Utilization Rate , Hour of Day </a:t>
            </a:r>
          </a:p>
          <a:p>
            <a:r>
              <a:rPr lang="en-IN" sz="2000" b="1" dirty="0">
                <a:solidFill>
                  <a:schemeClr val="accent6">
                    <a:lumMod val="50000"/>
                  </a:schemeClr>
                </a:solidFill>
              </a:rPr>
              <a:t>Target</a:t>
            </a:r>
            <a:r>
              <a:rPr lang="en-IN" sz="2000" dirty="0"/>
              <a:t> : Occupancy </a:t>
            </a:r>
          </a:p>
          <a:p>
            <a:r>
              <a:rPr lang="en-IN" sz="2000" b="1" dirty="0">
                <a:solidFill>
                  <a:schemeClr val="accent6">
                    <a:lumMod val="50000"/>
                  </a:schemeClr>
                </a:solidFill>
              </a:rPr>
              <a:t>Models Evaluated</a:t>
            </a:r>
          </a:p>
          <a:p>
            <a:r>
              <a:rPr lang="en-IN" sz="2000" b="1" dirty="0">
                <a:solidFill>
                  <a:schemeClr val="accent6">
                    <a:lumMod val="50000"/>
                  </a:schemeClr>
                </a:solidFill>
              </a:rPr>
              <a:t>Linear Regression </a:t>
            </a:r>
            <a:r>
              <a:rPr lang="en-IN" sz="2000" b="1" dirty="0"/>
              <a:t>- </a:t>
            </a:r>
            <a:r>
              <a:rPr lang="en-IN" sz="2000" dirty="0"/>
              <a:t>Baseline predictive model</a:t>
            </a:r>
          </a:p>
          <a:p>
            <a:r>
              <a:rPr lang="en-IN" sz="2000" b="1" dirty="0">
                <a:solidFill>
                  <a:schemeClr val="accent6">
                    <a:lumMod val="50000"/>
                  </a:schemeClr>
                </a:solidFill>
              </a:rPr>
              <a:t>Random Forest </a:t>
            </a:r>
            <a:r>
              <a:rPr lang="en-IN" sz="2000" b="1" dirty="0"/>
              <a:t>- </a:t>
            </a:r>
            <a:r>
              <a:rPr lang="en-IN" sz="2000" dirty="0"/>
              <a:t>Non-linear ensemble model</a:t>
            </a:r>
          </a:p>
          <a:p>
            <a:endParaRPr lang="en-IN" sz="2000" dirty="0"/>
          </a:p>
          <a:p>
            <a:endParaRPr lang="en-IN" sz="2000" dirty="0"/>
          </a:p>
          <a:p>
            <a:endParaRPr lang="en-IN" sz="2000" dirty="0"/>
          </a:p>
          <a:p>
            <a:endParaRPr lang="en-IN" sz="2000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97845347-E02A-9E46-B18A-FB96F3AAC2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9102808"/>
              </p:ext>
            </p:extLst>
          </p:nvPr>
        </p:nvGraphicFramePr>
        <p:xfrm>
          <a:off x="162046" y="2933858"/>
          <a:ext cx="10515600" cy="109728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223910021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75258190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58032021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4437552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Model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RMSE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R²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89338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Linear Regression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4.498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7.557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0.907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8257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Random Forest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0.796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1.857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0.994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8348601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56069952-28F8-0913-8DBF-E3EFFAD2CB46}"/>
              </a:ext>
            </a:extLst>
          </p:cNvPr>
          <p:cNvSpPr txBox="1"/>
          <p:nvPr/>
        </p:nvSpPr>
        <p:spPr>
          <a:xfrm>
            <a:off x="162045" y="4072925"/>
            <a:ext cx="1156310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6">
                    <a:lumMod val="50000"/>
                  </a:schemeClr>
                </a:solidFill>
              </a:rPr>
              <a:t>Interpretation</a:t>
            </a:r>
          </a:p>
          <a:p>
            <a:r>
              <a:rPr lang="en-IN" dirty="0"/>
              <a:t>Linear Regression captured general trends. </a:t>
            </a:r>
          </a:p>
          <a:p>
            <a:r>
              <a:rPr lang="en-IN" dirty="0"/>
              <a:t>Random Forest captured complex non-linear operational relationships. </a:t>
            </a:r>
          </a:p>
          <a:p>
            <a:r>
              <a:rPr lang="en-IN" dirty="0"/>
              <a:t>Final Demand Prediction Agent used Random Forest. </a:t>
            </a:r>
          </a:p>
          <a:p>
            <a:endParaRPr lang="en-IN" dirty="0"/>
          </a:p>
          <a:p>
            <a:r>
              <a:rPr lang="en-IN" b="1" dirty="0">
                <a:solidFill>
                  <a:schemeClr val="accent6">
                    <a:lumMod val="50000"/>
                  </a:schemeClr>
                </a:solidFill>
              </a:rPr>
              <a:t>Important Decision</a:t>
            </a:r>
          </a:p>
          <a:p>
            <a:r>
              <a:rPr lang="en-IN" dirty="0"/>
              <a:t>Occupancy Density and Queue Length Proxy were excluded from modelling because they were derived from occupancy and would introduce target leakage.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720396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A9C431-F42C-BC8B-7FF0-70DBC3483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565AFD2-1F5E-1071-7B69-8B3AA871CD92}"/>
              </a:ext>
            </a:extLst>
          </p:cNvPr>
          <p:cNvSpPr txBox="1"/>
          <p:nvPr/>
        </p:nvSpPr>
        <p:spPr>
          <a:xfrm>
            <a:off x="162046" y="162046"/>
            <a:ext cx="79170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6">
                    <a:lumMod val="50000"/>
                  </a:schemeClr>
                </a:solidFill>
              </a:rPr>
              <a:t>DYNAMIC TARIFF PRICING AGENT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EB7229-2A19-3888-B750-B04AED934E98}"/>
              </a:ext>
            </a:extLst>
          </p:cNvPr>
          <p:cNvSpPr txBox="1"/>
          <p:nvPr/>
        </p:nvSpPr>
        <p:spPr>
          <a:xfrm>
            <a:off x="162046" y="902826"/>
            <a:ext cx="11563109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Translate demand forecasts into adaptive pricing decisions.</a:t>
            </a:r>
          </a:p>
          <a:p>
            <a:r>
              <a:rPr lang="en-IN" b="1" dirty="0">
                <a:solidFill>
                  <a:schemeClr val="accent6">
                    <a:lumMod val="50000"/>
                  </a:schemeClr>
                </a:solidFill>
              </a:rPr>
              <a:t>Pricing Logic</a:t>
            </a:r>
          </a:p>
          <a:p>
            <a:r>
              <a:rPr lang="en-IN" b="1" dirty="0">
                <a:solidFill>
                  <a:schemeClr val="accent6">
                    <a:lumMod val="50000"/>
                  </a:schemeClr>
                </a:solidFill>
              </a:rPr>
              <a:t>Surge Pricing </a:t>
            </a:r>
            <a:r>
              <a:rPr lang="en-IN" b="1" dirty="0"/>
              <a:t>: </a:t>
            </a:r>
            <a:r>
              <a:rPr lang="en-IN" dirty="0"/>
              <a:t>Applied when, Predicted Utilization &gt; 80% ,Price Increase: +35%</a:t>
            </a:r>
          </a:p>
          <a:p>
            <a:r>
              <a:rPr lang="en-IN" b="1" dirty="0">
                <a:solidFill>
                  <a:schemeClr val="accent6">
                    <a:lumMod val="50000"/>
                  </a:schemeClr>
                </a:solidFill>
              </a:rPr>
              <a:t>Discount Pricing </a:t>
            </a:r>
            <a:r>
              <a:rPr lang="en-IN" b="1" dirty="0"/>
              <a:t>: </a:t>
            </a:r>
            <a:r>
              <a:rPr lang="en-IN" dirty="0"/>
              <a:t>Applied when, Predicted Utilization &lt; 30%, Price Reduction: -5%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B7B0CB-7260-2F46-0B97-152AB7D1DA3D}"/>
              </a:ext>
            </a:extLst>
          </p:cNvPr>
          <p:cNvSpPr txBox="1"/>
          <p:nvPr/>
        </p:nvSpPr>
        <p:spPr>
          <a:xfrm>
            <a:off x="162046" y="2246968"/>
            <a:ext cx="1131692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6">
                    <a:lumMod val="50000"/>
                  </a:schemeClr>
                </a:solidFill>
              </a:rPr>
              <a:t>Customer Response Simulation</a:t>
            </a:r>
          </a:p>
          <a:p>
            <a:r>
              <a:rPr lang="en-IN" dirty="0"/>
              <a:t>Assumptions:</a:t>
            </a:r>
          </a:p>
          <a:p>
            <a:r>
              <a:rPr lang="en-IN" dirty="0"/>
              <a:t>High prices slightly reduce demand </a:t>
            </a:r>
          </a:p>
          <a:p>
            <a:r>
              <a:rPr lang="en-IN" dirty="0"/>
              <a:t>Discounts encourage additional off-peak charging </a:t>
            </a:r>
          </a:p>
          <a:p>
            <a:r>
              <a:rPr lang="en-IN" dirty="0"/>
              <a:t>Used as a proxy for demand elasticity</a:t>
            </a:r>
          </a:p>
          <a:p>
            <a:endParaRPr lang="en-IN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3365B6C-496C-A99B-56A3-5BA8EED6C5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7332188"/>
              </p:ext>
            </p:extLst>
          </p:nvPr>
        </p:nvGraphicFramePr>
        <p:xfrm>
          <a:off x="162046" y="3708179"/>
          <a:ext cx="6086354" cy="1828800"/>
        </p:xfrm>
        <a:graphic>
          <a:graphicData uri="http://schemas.openxmlformats.org/drawingml/2006/table">
            <a:tbl>
              <a:tblPr/>
              <a:tblGrid>
                <a:gridCol w="3043177">
                  <a:extLst>
                    <a:ext uri="{9D8B030D-6E8A-4147-A177-3AD203B41FA5}">
                      <a16:colId xmlns:a16="http://schemas.microsoft.com/office/drawing/2014/main" val="2461702905"/>
                    </a:ext>
                  </a:extLst>
                </a:gridCol>
                <a:gridCol w="3043177">
                  <a:extLst>
                    <a:ext uri="{9D8B030D-6E8A-4147-A177-3AD203B41FA5}">
                      <a16:colId xmlns:a16="http://schemas.microsoft.com/office/drawing/2014/main" val="938209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Metric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Result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21604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Revenue Gain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+2.44%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64956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Off-Peak Uplift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+8.0%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1608354"/>
                  </a:ext>
                </a:extLst>
              </a:tr>
              <a:tr h="2875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Utilization Before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0.295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3299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Utilization After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0.323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756612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25CFEDB-F432-F2B7-6D05-FD3A4EC492AE}"/>
              </a:ext>
            </a:extLst>
          </p:cNvPr>
          <p:cNvSpPr txBox="1"/>
          <p:nvPr/>
        </p:nvSpPr>
        <p:spPr>
          <a:xfrm>
            <a:off x="162046" y="3919005"/>
            <a:ext cx="1116434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>
              <a:solidFill>
                <a:schemeClr val="accent6">
                  <a:lumMod val="50000"/>
                </a:schemeClr>
              </a:solidFill>
            </a:endParaRPr>
          </a:p>
          <a:p>
            <a:r>
              <a:rPr lang="en-IN" b="1" dirty="0">
                <a:solidFill>
                  <a:schemeClr val="accent6">
                    <a:lumMod val="50000"/>
                  </a:schemeClr>
                </a:solidFill>
              </a:rPr>
              <a:t>Interpretation</a:t>
            </a:r>
          </a:p>
          <a:p>
            <a:r>
              <a:rPr lang="en-IN" dirty="0"/>
              <a:t>Dynamic pricing successfully redistributed charging demand toward low-utilization periods while improving both revenue and charger utilization.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28847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A1A86-68DF-1A63-42EE-BD570B15F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57EFE42-FDDB-9447-0FA3-CE027787DEC3}"/>
              </a:ext>
            </a:extLst>
          </p:cNvPr>
          <p:cNvSpPr txBox="1"/>
          <p:nvPr/>
        </p:nvSpPr>
        <p:spPr>
          <a:xfrm>
            <a:off x="162046" y="162046"/>
            <a:ext cx="79170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6">
                    <a:lumMod val="50000"/>
                  </a:schemeClr>
                </a:solidFill>
              </a:rPr>
              <a:t>MONITORING &amp; LEARNING AGENT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ACFA20-78C0-B63E-14AC-03FB326D110B}"/>
              </a:ext>
            </a:extLst>
          </p:cNvPr>
          <p:cNvSpPr txBox="1"/>
          <p:nvPr/>
        </p:nvSpPr>
        <p:spPr>
          <a:xfrm>
            <a:off x="162046" y="755342"/>
            <a:ext cx="11563109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Evaluate the effectiveness of pricing decisions and create a feedback loop.</a:t>
            </a:r>
          </a:p>
          <a:p>
            <a:r>
              <a:rPr lang="en-IN" b="1" dirty="0">
                <a:solidFill>
                  <a:schemeClr val="accent6">
                    <a:lumMod val="50000"/>
                  </a:schemeClr>
                </a:solidFill>
              </a:rPr>
              <a:t>Metrics Tracked</a:t>
            </a:r>
          </a:p>
          <a:p>
            <a:r>
              <a:rPr lang="en-IN" b="1" dirty="0">
                <a:solidFill>
                  <a:schemeClr val="accent6">
                    <a:lumMod val="50000"/>
                  </a:schemeClr>
                </a:solidFill>
              </a:rPr>
              <a:t>Wait Time Reduction</a:t>
            </a:r>
          </a:p>
          <a:p>
            <a:r>
              <a:rPr lang="en-IN" dirty="0"/>
              <a:t>Proxy for congestion reduction</a:t>
            </a:r>
          </a:p>
          <a:p>
            <a:r>
              <a:rPr lang="en-IN" b="1" dirty="0">
                <a:solidFill>
                  <a:schemeClr val="accent6">
                    <a:lumMod val="50000"/>
                  </a:schemeClr>
                </a:solidFill>
              </a:rPr>
              <a:t>Customer Response Rate</a:t>
            </a:r>
          </a:p>
          <a:p>
            <a:r>
              <a:rPr lang="en-IN" dirty="0"/>
              <a:t>Measures demand shift after pricing changes</a:t>
            </a:r>
          </a:p>
          <a:p>
            <a:r>
              <a:rPr lang="en-IN" b="1" dirty="0">
                <a:solidFill>
                  <a:schemeClr val="accent6">
                    <a:lumMod val="50000"/>
                  </a:schemeClr>
                </a:solidFill>
              </a:rPr>
              <a:t>Pricing Efficiency Score</a:t>
            </a:r>
          </a:p>
          <a:p>
            <a:r>
              <a:rPr lang="en-IN" dirty="0"/>
              <a:t>Revenue generated per unit charging activity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3EA8788-A9B9-4E46-779B-DBBE4070B1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5116156"/>
              </p:ext>
            </p:extLst>
          </p:nvPr>
        </p:nvGraphicFramePr>
        <p:xfrm>
          <a:off x="162046" y="3164520"/>
          <a:ext cx="10515600" cy="146304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3930076616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0515302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Metric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Result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84738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Wait Time Reduction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12.0%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56422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Customer Response Rate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5.24%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5478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Pricing Efficiency Gain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-2.66%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542296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7D5AC24-AC0D-A88A-52A4-EE1EA378647A}"/>
              </a:ext>
            </a:extLst>
          </p:cNvPr>
          <p:cNvSpPr txBox="1"/>
          <p:nvPr/>
        </p:nvSpPr>
        <p:spPr>
          <a:xfrm>
            <a:off x="162046" y="4627560"/>
            <a:ext cx="1142035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6">
                    <a:lumMod val="50000"/>
                  </a:schemeClr>
                </a:solidFill>
              </a:rPr>
              <a:t>Interpretation</a:t>
            </a:r>
          </a:p>
          <a:p>
            <a:r>
              <a:rPr lang="en-IN" dirty="0"/>
              <a:t>Congestion reduced significantly </a:t>
            </a:r>
          </a:p>
          <a:p>
            <a:r>
              <a:rPr lang="en-IN" dirty="0"/>
              <a:t>Users responded positively to pricing incentives </a:t>
            </a:r>
          </a:p>
          <a:p>
            <a:r>
              <a:rPr lang="en-IN" dirty="0"/>
              <a:t>Slight efficiency </a:t>
            </a:r>
            <a:r>
              <a:rPr lang="en-IN" dirty="0" err="1"/>
              <a:t>tradeoff</a:t>
            </a:r>
            <a:r>
              <a:rPr lang="en-IN" dirty="0"/>
              <a:t> observed due to off-peak discounts </a:t>
            </a:r>
          </a:p>
          <a:p>
            <a:r>
              <a:rPr lang="en-IN" b="1" dirty="0">
                <a:solidFill>
                  <a:schemeClr val="accent6">
                    <a:lumMod val="50000"/>
                  </a:schemeClr>
                </a:solidFill>
              </a:rPr>
              <a:t>Key Insight</a:t>
            </a:r>
          </a:p>
          <a:p>
            <a:r>
              <a:rPr lang="en-IN" dirty="0"/>
              <a:t>Dynamic pricing creates a </a:t>
            </a:r>
            <a:r>
              <a:rPr lang="en-IN" dirty="0" err="1"/>
              <a:t>tradeoff</a:t>
            </a:r>
            <a:r>
              <a:rPr lang="en-IN" dirty="0"/>
              <a:t> between operational efficiency and revenue efficiency. The proposed system prioritizes congestion mitigation while maintaining positive revenue growth.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945528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E17E1A-D2D4-B192-A07C-50FE2CA07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134B1B-FC40-F185-9088-81DA43E00E33}"/>
              </a:ext>
            </a:extLst>
          </p:cNvPr>
          <p:cNvSpPr txBox="1"/>
          <p:nvPr/>
        </p:nvSpPr>
        <p:spPr>
          <a:xfrm>
            <a:off x="162046" y="162046"/>
            <a:ext cx="79170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6">
                    <a:lumMod val="50000"/>
                  </a:schemeClr>
                </a:solidFill>
              </a:rPr>
              <a:t>BUSINESS, OPERATIONAL &amp; POLICY IMPLICATIONS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3B9ED7-08BD-DFA3-3F33-75B9775CB913}"/>
              </a:ext>
            </a:extLst>
          </p:cNvPr>
          <p:cNvSpPr txBox="1"/>
          <p:nvPr/>
        </p:nvSpPr>
        <p:spPr>
          <a:xfrm>
            <a:off x="162046" y="685266"/>
            <a:ext cx="11563109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000" b="1" dirty="0"/>
          </a:p>
          <a:p>
            <a:r>
              <a:rPr lang="en-IN" sz="2000" b="1" dirty="0">
                <a:solidFill>
                  <a:schemeClr val="accent6">
                    <a:lumMod val="50000"/>
                  </a:schemeClr>
                </a:solidFill>
              </a:rPr>
              <a:t>Business Impact</a:t>
            </a:r>
          </a:p>
          <a:p>
            <a:r>
              <a:rPr lang="en-IN" sz="2000" dirty="0"/>
              <a:t>Increased charging revenue </a:t>
            </a:r>
          </a:p>
          <a:p>
            <a:r>
              <a:rPr lang="en-IN" sz="2000" dirty="0"/>
              <a:t>Improved charger utilization </a:t>
            </a:r>
          </a:p>
          <a:p>
            <a:r>
              <a:rPr lang="en-IN" sz="2000" dirty="0"/>
              <a:t>Better asset efficiency</a:t>
            </a:r>
          </a:p>
          <a:p>
            <a:endParaRPr lang="en-IN" sz="2000" dirty="0"/>
          </a:p>
          <a:p>
            <a:r>
              <a:rPr lang="en-IN" sz="2000" b="1" dirty="0">
                <a:solidFill>
                  <a:schemeClr val="accent6">
                    <a:lumMod val="50000"/>
                  </a:schemeClr>
                </a:solidFill>
              </a:rPr>
              <a:t>Operational Impact</a:t>
            </a:r>
          </a:p>
          <a:p>
            <a:r>
              <a:rPr lang="en-IN" sz="2000" dirty="0"/>
              <a:t>Reduced congestion </a:t>
            </a:r>
          </a:p>
          <a:p>
            <a:r>
              <a:rPr lang="en-IN" sz="2000" dirty="0"/>
              <a:t>Lower estimated waiting times </a:t>
            </a:r>
          </a:p>
          <a:p>
            <a:r>
              <a:rPr lang="en-IN" sz="2000" dirty="0"/>
              <a:t>Improved load balancing across charging periods</a:t>
            </a:r>
          </a:p>
          <a:p>
            <a:r>
              <a:rPr lang="en-IN" sz="2000" dirty="0"/>
              <a:t> </a:t>
            </a:r>
          </a:p>
          <a:p>
            <a:r>
              <a:rPr lang="en-IN" sz="2000" b="1" dirty="0">
                <a:solidFill>
                  <a:schemeClr val="accent6">
                    <a:lumMod val="50000"/>
                  </a:schemeClr>
                </a:solidFill>
              </a:rPr>
              <a:t>Policy Implications</a:t>
            </a:r>
          </a:p>
          <a:p>
            <a:r>
              <a:rPr lang="en-IN" sz="2000" dirty="0"/>
              <a:t>Supports sustainable EV infrastructure management </a:t>
            </a:r>
          </a:p>
          <a:p>
            <a:r>
              <a:rPr lang="en-IN" sz="2000" dirty="0"/>
              <a:t>Encourages off-peak charging </a:t>
            </a:r>
            <a:r>
              <a:rPr lang="en-IN" sz="2000" dirty="0" err="1"/>
              <a:t>behavior</a:t>
            </a:r>
            <a:r>
              <a:rPr lang="en-IN" sz="2000" dirty="0"/>
              <a:t> </a:t>
            </a:r>
          </a:p>
          <a:p>
            <a:r>
              <a:rPr lang="en-IN" sz="2000" dirty="0"/>
              <a:t>Reduces need for immediate infrastructure expansion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5715F2-464C-B4C3-3723-1DB61ECFDED5}"/>
              </a:ext>
            </a:extLst>
          </p:cNvPr>
          <p:cNvSpPr txBox="1"/>
          <p:nvPr/>
        </p:nvSpPr>
        <p:spPr>
          <a:xfrm>
            <a:off x="7497566" y="1993366"/>
            <a:ext cx="328375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Demand Prediction Agent</a:t>
            </a:r>
          </a:p>
          <a:p>
            <a:r>
              <a:rPr lang="en-US" dirty="0"/>
              <a:t>          ↓</a:t>
            </a:r>
          </a:p>
          <a:p>
            <a:r>
              <a:rPr lang="en-US" dirty="0"/>
              <a:t>Tariff Pricing Agent</a:t>
            </a:r>
          </a:p>
          <a:p>
            <a:r>
              <a:rPr lang="en-US" dirty="0"/>
              <a:t>          ↓</a:t>
            </a:r>
          </a:p>
          <a:p>
            <a:r>
              <a:rPr lang="en-US" dirty="0"/>
              <a:t>Customer Response</a:t>
            </a:r>
          </a:p>
          <a:p>
            <a:r>
              <a:rPr lang="en-US" dirty="0"/>
              <a:t>          ↓</a:t>
            </a:r>
          </a:p>
          <a:p>
            <a:r>
              <a:rPr lang="en-US" dirty="0"/>
              <a:t>Monitoring &amp; Learning Agent</a:t>
            </a:r>
          </a:p>
          <a:p>
            <a:r>
              <a:rPr lang="en-US" dirty="0"/>
              <a:t>          ↓</a:t>
            </a:r>
          </a:p>
          <a:p>
            <a:r>
              <a:rPr lang="en-US" dirty="0"/>
              <a:t>Continuous Optimization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281530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4A7E72-E099-6E81-6CFE-148456FA7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4BF42CA-B135-4751-680C-E82B9C6206F8}"/>
              </a:ext>
            </a:extLst>
          </p:cNvPr>
          <p:cNvSpPr txBox="1"/>
          <p:nvPr/>
        </p:nvSpPr>
        <p:spPr>
          <a:xfrm>
            <a:off x="162046" y="162046"/>
            <a:ext cx="79170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6">
                    <a:lumMod val="50000"/>
                  </a:schemeClr>
                </a:solidFill>
              </a:rPr>
              <a:t>CONCLUSION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1EB2C0-9B8B-5773-AEAE-4E8119F69BE4}"/>
              </a:ext>
            </a:extLst>
          </p:cNvPr>
          <p:cNvSpPr txBox="1"/>
          <p:nvPr/>
        </p:nvSpPr>
        <p:spPr>
          <a:xfrm>
            <a:off x="162046" y="902826"/>
            <a:ext cx="11563109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>
                    <a:lumMod val="50000"/>
                  </a:schemeClr>
                </a:solidFill>
              </a:rPr>
              <a:t>Contributions</a:t>
            </a:r>
          </a:p>
          <a:p>
            <a:r>
              <a:rPr lang="en-IN" sz="2000" dirty="0"/>
              <a:t>Unified multi-source EV charging datasets</a:t>
            </a:r>
          </a:p>
          <a:p>
            <a:r>
              <a:rPr lang="en-IN" sz="2000" dirty="0"/>
              <a:t>Built Demand Prediction Agent</a:t>
            </a:r>
          </a:p>
          <a:p>
            <a:r>
              <a:rPr lang="en-IN" sz="2000" dirty="0"/>
              <a:t>Built Dynamic Pricing Agent</a:t>
            </a:r>
          </a:p>
          <a:p>
            <a:r>
              <a:rPr lang="en-IN" sz="2000" dirty="0"/>
              <a:t>Built Monitoring &amp; Learning Agent</a:t>
            </a:r>
          </a:p>
          <a:p>
            <a:r>
              <a:rPr lang="en-IN" sz="2000" dirty="0"/>
              <a:t>Developed closed-loop Agentic AI framework</a:t>
            </a:r>
          </a:p>
          <a:p>
            <a:endParaRPr lang="en-IN" sz="2000" dirty="0"/>
          </a:p>
          <a:p>
            <a:r>
              <a:rPr lang="en-IN" sz="2000" b="1" dirty="0">
                <a:solidFill>
                  <a:schemeClr val="accent6">
                    <a:lumMod val="50000"/>
                  </a:schemeClr>
                </a:solidFill>
              </a:rPr>
              <a:t>Final Results</a:t>
            </a:r>
          </a:p>
          <a:p>
            <a:r>
              <a:rPr lang="en-IN" sz="2000" dirty="0"/>
              <a:t>R² = 0.994 </a:t>
            </a:r>
          </a:p>
          <a:p>
            <a:r>
              <a:rPr lang="en-IN" sz="2000" dirty="0"/>
              <a:t>Revenue Gain = 2.44% </a:t>
            </a:r>
          </a:p>
          <a:p>
            <a:r>
              <a:rPr lang="en-IN" sz="2000" dirty="0"/>
              <a:t>Off-Peak Uplift = 8% </a:t>
            </a:r>
          </a:p>
          <a:p>
            <a:r>
              <a:rPr lang="en-IN" sz="2000" dirty="0"/>
              <a:t>Wait Time Reduction = 12% </a:t>
            </a:r>
          </a:p>
          <a:p>
            <a:endParaRPr lang="en-IN" sz="2000" dirty="0"/>
          </a:p>
          <a:p>
            <a:r>
              <a:rPr lang="en-IN" sz="2000" b="1" dirty="0">
                <a:solidFill>
                  <a:schemeClr val="accent6">
                    <a:lumMod val="50000"/>
                  </a:schemeClr>
                </a:solidFill>
              </a:rPr>
              <a:t>Future Work</a:t>
            </a:r>
          </a:p>
          <a:p>
            <a:r>
              <a:rPr lang="en-IN" sz="2000" dirty="0"/>
              <a:t>Real-time deployment </a:t>
            </a:r>
          </a:p>
          <a:p>
            <a:r>
              <a:rPr lang="en-IN" sz="2000" dirty="0"/>
              <a:t>Reinforcement learning pricing policies </a:t>
            </a:r>
          </a:p>
          <a:p>
            <a:r>
              <a:rPr lang="en-IN" sz="2000" dirty="0"/>
              <a:t>Weather and event-aware forecasting </a:t>
            </a:r>
          </a:p>
          <a:p>
            <a:r>
              <a:rPr lang="en-IN" sz="2000" dirty="0"/>
              <a:t>Multi-city charging network optimization</a:t>
            </a:r>
          </a:p>
        </p:txBody>
      </p:sp>
    </p:spTree>
    <p:extLst>
      <p:ext uri="{BB962C8B-B14F-4D97-AF65-F5344CB8AC3E}">
        <p14:creationId xmlns:p14="http://schemas.microsoft.com/office/powerpoint/2010/main" val="40547892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8BBFB8-27FF-D176-4CF2-64CE2A9FB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AB5534-7FA2-4AE8-C1F4-B2FC981C878D}"/>
              </a:ext>
            </a:extLst>
          </p:cNvPr>
          <p:cNvSpPr txBox="1"/>
          <p:nvPr/>
        </p:nvSpPr>
        <p:spPr>
          <a:xfrm>
            <a:off x="162046" y="162046"/>
            <a:ext cx="79170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6">
                    <a:lumMod val="50000"/>
                  </a:schemeClr>
                </a:solidFill>
              </a:rPr>
              <a:t>APPENDIX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4780D9-C75A-4C0B-CB22-79EF2DDD2A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046" y="685266"/>
            <a:ext cx="5933954" cy="28827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E686A7F-E503-418E-5DA5-C27B903D4B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8025" y="685266"/>
            <a:ext cx="5413900" cy="288278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12E9F6F-D6F4-C883-7239-F1133220BE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557" y="3731966"/>
            <a:ext cx="4774049" cy="296398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BF301A6-5A3C-FB65-9017-FD4C22B971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06319" y="3731966"/>
            <a:ext cx="6215606" cy="2978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0245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7BB3F0-8D82-655A-12F5-AC29A311F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62797A5-DABC-E7CB-AC81-FD0C1C326A82}"/>
              </a:ext>
            </a:extLst>
          </p:cNvPr>
          <p:cNvSpPr txBox="1"/>
          <p:nvPr/>
        </p:nvSpPr>
        <p:spPr>
          <a:xfrm>
            <a:off x="2137458" y="2875002"/>
            <a:ext cx="791708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600" b="1" dirty="0">
                <a:solidFill>
                  <a:schemeClr val="accent6">
                    <a:lumMod val="50000"/>
                  </a:schemeClr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0796160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734</Words>
  <Application>Microsoft Office PowerPoint</Application>
  <PresentationFormat>Widescreen</PresentationFormat>
  <Paragraphs>163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Agentic AI-Based Dynamic Tariff Optimization for EV Charging Networks Using Large-Scale Charging Session Data.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Anuj Mittal</dc:creator>
  <cp:lastModifiedBy>Anuj Mittal</cp:lastModifiedBy>
  <cp:revision>1</cp:revision>
  <dcterms:created xsi:type="dcterms:W3CDTF">2026-06-07T06:01:51Z</dcterms:created>
  <dcterms:modified xsi:type="dcterms:W3CDTF">2026-06-07T06:59:57Z</dcterms:modified>
</cp:coreProperties>
</file>